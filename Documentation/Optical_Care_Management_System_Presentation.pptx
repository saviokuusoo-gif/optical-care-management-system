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67020" y="279400"/>
            <a:ext cx="1460500" cy="1460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800" y="469900"/>
            <a:ext cx="1168400" cy="107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1879600"/>
            <a:ext cx="10668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C9A227"/>
                </a:solidFill>
                <a:latin typeface="Calibri"/>
              </a:defRPr>
            </a:pPr>
            <a:r>
              <a:t>EAST AFRICA UNIVERSITY – GAROWE</a:t>
            </a:r>
          </a:p>
          <a:p>
            <a:pPr algn="ctr"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Faculty of Technology and Engineering  |  Department of Computer 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857500"/>
            <a:ext cx="10160000" cy="4445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000" y="3111500"/>
            <a:ext cx="109220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OPTICAL CARE MANAGEMENT SYSTEM</a:t>
            </a:r>
            <a:br/>
            <a:r>
              <a:t>WITH APPOINTMENT SCHEDULING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C9A227"/>
                </a:solidFill>
                <a:latin typeface="Calibri"/>
              </a:defRPr>
            </a:pPr>
            <a:r>
              <a:t>A Graduation Thesis Defense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207000"/>
            <a:ext cx="10668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Presented by: SAFIO ABDIKADIR HASAN  (Reg No: EAUGRW003290 / 003290)</a:t>
            </a:r>
          </a:p>
          <a:p>
            <a:pPr algn="ctr">
              <a:spcBef>
                <a:spcPts val="400"/>
              </a:spcBef>
              <a:defRPr sz="1400">
                <a:solidFill>
                  <a:srgbClr val="C9A227"/>
                </a:solidFill>
                <a:latin typeface="Calibri"/>
              </a:defRPr>
            </a:pPr>
            <a:r>
              <a:t>Supervisor: Engr. Abdirizak Jirde</a:t>
            </a:r>
          </a:p>
          <a:p>
            <a:pPr algn="ctr"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Academic Year 2025–2026  •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19"/>
            <a:ext cx="2032000" cy="5461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64135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A5A5A"/>
                </a:solidFill>
                <a:latin typeface="Calibri"/>
              </a:defRPr>
            </a:pPr>
            <a:r>
              <a:t>2</a:t>
            </a:r>
          </a:p>
        </p:txBody>
      </p:sp>
      <p:pic>
        <p:nvPicPr>
          <p:cNvPr id="5" name="Picture 4" descr="slid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6146800"/>
            <a:ext cx="711200" cy="635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333500"/>
            <a:ext cx="5334000" cy="7366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1680" y="1460500"/>
            <a:ext cx="482600" cy="482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C9A227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409700"/>
            <a:ext cx="45466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3A5F"/>
                </a:solidFill>
                <a:latin typeface="Calibri"/>
              </a:defRPr>
            </a:pPr>
            <a:r>
              <a:t>Introduction / Background</a:t>
            </a:r>
          </a:p>
          <a:p>
            <a:pPr>
              <a:spcBef>
                <a:spcPts val="200"/>
              </a:spcBef>
              <a:defRPr sz="1050">
                <a:solidFill>
                  <a:srgbClr val="5A5A5A"/>
                </a:solidFill>
                <a:latin typeface="Calibri"/>
              </a:defRPr>
            </a:pPr>
            <a:r>
              <a:t>Eye care healthcare context, clinical importance, traditional limits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71700"/>
            <a:ext cx="5334000" cy="7366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1680" y="2298700"/>
            <a:ext cx="482600" cy="482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C9A22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47900"/>
            <a:ext cx="45466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3A5F"/>
                </a:solidFill>
                <a:latin typeface="Calibri"/>
              </a:defRPr>
            </a:pPr>
            <a:r>
              <a:t>Problem Statement</a:t>
            </a:r>
          </a:p>
          <a:p>
            <a:pPr>
              <a:spcBef>
                <a:spcPts val="200"/>
              </a:spcBef>
              <a:defRPr sz="1050">
                <a:solidFill>
                  <a:srgbClr val="5A5A5A"/>
                </a:solidFill>
                <a:latin typeface="Calibri"/>
              </a:defRPr>
            </a:pPr>
            <a:r>
              <a:t>Paper record vulnerability, long patient waiting times, schedule clashes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09900"/>
            <a:ext cx="5334000" cy="7366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1680" y="3136900"/>
            <a:ext cx="482600" cy="482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C9A227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086100"/>
            <a:ext cx="45466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3A5F"/>
                </a:solidFill>
                <a:latin typeface="Calibri"/>
              </a:defRPr>
            </a:pPr>
            <a:r>
              <a:t>Objectives of the Study</a:t>
            </a:r>
          </a:p>
          <a:p>
            <a:pPr>
              <a:spcBef>
                <a:spcPts val="200"/>
              </a:spcBef>
              <a:defRPr sz="1050">
                <a:solidFill>
                  <a:srgbClr val="5A5A5A"/>
                </a:solidFill>
                <a:latin typeface="Calibri"/>
              </a:defRPr>
            </a:pPr>
            <a:r>
              <a:t>General objective &amp; 6 clinical software engineering goals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8100"/>
            <a:ext cx="5334000" cy="7366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1680" y="3975100"/>
            <a:ext cx="482600" cy="482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C9A227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924300"/>
            <a:ext cx="45466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3A5F"/>
                </a:solidFill>
                <a:latin typeface="Calibri"/>
              </a:defRPr>
            </a:pPr>
            <a:r>
              <a:t>Literature Review &amp; Research Gap</a:t>
            </a:r>
          </a:p>
          <a:p>
            <a:pPr>
              <a:spcBef>
                <a:spcPts val="200"/>
              </a:spcBef>
              <a:defRPr sz="1050">
                <a:solidFill>
                  <a:srgbClr val="5A5A5A"/>
                </a:solidFill>
                <a:latin typeface="Calibri"/>
              </a:defRPr>
            </a:pPr>
            <a:r>
              <a:t>Comparative analysis of hospital systems; identified gap in Garowe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86300"/>
            <a:ext cx="5334000" cy="7366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1680" y="4813300"/>
            <a:ext cx="482600" cy="482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C9A227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762500"/>
            <a:ext cx="45466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3A5F"/>
                </a:solidFill>
                <a:latin typeface="Calibri"/>
              </a:defRPr>
            </a:pPr>
            <a:r>
              <a:t>Methodology &amp; System Architecture</a:t>
            </a:r>
          </a:p>
          <a:p>
            <a:pPr>
              <a:spcBef>
                <a:spcPts val="200"/>
              </a:spcBef>
              <a:defRPr sz="1050">
                <a:solidFill>
                  <a:srgbClr val="5A5A5A"/>
                </a:solidFill>
                <a:latin typeface="Calibri"/>
              </a:defRPr>
            </a:pPr>
            <a:r>
              <a:t>Design Science Research, Agile sprints, 3-tier layered architecture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8080" y="1333500"/>
            <a:ext cx="5334000" cy="7366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29680" y="1460500"/>
            <a:ext cx="482600" cy="482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C9A227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3880" y="1409700"/>
            <a:ext cx="45466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3A5F"/>
                </a:solidFill>
                <a:latin typeface="Calibri"/>
              </a:defRPr>
            </a:pPr>
            <a:r>
              <a:t>Database Schema &amp; System Design</a:t>
            </a:r>
          </a:p>
          <a:p>
            <a:pPr>
              <a:spcBef>
                <a:spcPts val="200"/>
              </a:spcBef>
              <a:defRPr sz="1050">
                <a:solidFill>
                  <a:srgbClr val="5A5A5A"/>
                </a:solidFill>
                <a:latin typeface="Calibri"/>
              </a:defRPr>
            </a:pPr>
            <a:r>
              <a:t>Relational database models, 9 core tables, clinical entity mappings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8080" y="2171700"/>
            <a:ext cx="5334000" cy="7366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29680" y="2298700"/>
            <a:ext cx="482600" cy="482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C9A227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13880" y="2247900"/>
            <a:ext cx="45466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3A5F"/>
                </a:solidFill>
                <a:latin typeface="Calibri"/>
              </a:defRPr>
            </a:pPr>
            <a:r>
              <a:t>Implementation &amp; Core Modules</a:t>
            </a:r>
          </a:p>
          <a:p>
            <a:pPr>
              <a:spcBef>
                <a:spcPts val="200"/>
              </a:spcBef>
              <a:defRPr sz="1050">
                <a:solidFill>
                  <a:srgbClr val="5A5A5A"/>
                </a:solidFill>
                <a:latin typeface="Calibri"/>
              </a:defRPr>
            </a:pPr>
            <a:r>
              <a:t>Online booking, eye exam charting, prescription &amp; frame catalog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8080" y="3009900"/>
            <a:ext cx="5334000" cy="7366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9680" y="3136900"/>
            <a:ext cx="482600" cy="482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C9A227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3880" y="3086100"/>
            <a:ext cx="45466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3A5F"/>
                </a:solidFill>
                <a:latin typeface="Calibri"/>
              </a:defRPr>
            </a:pPr>
            <a:r>
              <a:t>Testing, Results &amp; Evaluation</a:t>
            </a:r>
          </a:p>
          <a:p>
            <a:pPr>
              <a:spcBef>
                <a:spcPts val="200"/>
              </a:spcBef>
              <a:defRPr sz="1050">
                <a:solidFill>
                  <a:srgbClr val="5A5A5A"/>
                </a:solidFill>
                <a:latin typeface="Calibri"/>
              </a:defRPr>
            </a:pPr>
            <a:r>
              <a:t>100% test pass rate, performance latency, UAT satisfaction rate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28080" y="3848100"/>
            <a:ext cx="5334000" cy="7366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29680" y="3975100"/>
            <a:ext cx="482600" cy="482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C9A227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3880" y="3924300"/>
            <a:ext cx="45466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3A5F"/>
                </a:solidFill>
                <a:latin typeface="Calibri"/>
              </a:defRPr>
            </a:pPr>
            <a:r>
              <a:t>Conclusion &amp; Recommendations</a:t>
            </a:r>
          </a:p>
          <a:p>
            <a:pPr>
              <a:spcBef>
                <a:spcPts val="200"/>
              </a:spcBef>
              <a:defRPr sz="1050">
                <a:solidFill>
                  <a:srgbClr val="5A5A5A"/>
                </a:solidFill>
                <a:latin typeface="Calibri"/>
              </a:defRPr>
            </a:pPr>
            <a:r>
              <a:t>Empirical findings, clinic adoption roadmap, future enhancements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8080" y="4686300"/>
            <a:ext cx="5334000" cy="7366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29680" y="4813300"/>
            <a:ext cx="482600" cy="482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C9A227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3880" y="4762500"/>
            <a:ext cx="45466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3A5F"/>
                </a:solidFill>
                <a:latin typeface="Calibri"/>
              </a:defRPr>
            </a:pPr>
            <a:r>
              <a:t>Questions &amp; Discussion</a:t>
            </a:r>
          </a:p>
          <a:p>
            <a:pPr>
              <a:spcBef>
                <a:spcPts val="200"/>
              </a:spcBef>
              <a:defRPr sz="1050">
                <a:solidFill>
                  <a:srgbClr val="5A5A5A"/>
                </a:solidFill>
                <a:latin typeface="Calibri"/>
              </a:defRPr>
            </a:pPr>
            <a:r>
              <a:t>Thesis defense committee review, questions, and academic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1. Introduction / Background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19"/>
            <a:ext cx="2032000" cy="5461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64135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A5A5A"/>
                </a:solidFill>
                <a:latin typeface="Calibri"/>
              </a:defRPr>
            </a:pPr>
            <a:r>
              <a:t>3</a:t>
            </a:r>
          </a:p>
        </p:txBody>
      </p:sp>
      <p:pic>
        <p:nvPicPr>
          <p:cNvPr id="5" name="Picture 4" descr="slid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6146800"/>
            <a:ext cx="711200" cy="635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270000"/>
            <a:ext cx="10668000" cy="8636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70000"/>
            <a:ext cx="76200" cy="8636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1346200"/>
            <a:ext cx="10287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3A5F"/>
                </a:solidFill>
                <a:latin typeface="Calibri"/>
              </a:defRPr>
            </a:pPr>
            <a:r>
              <a:t>Clinical Significance of Optical Care</a:t>
            </a:r>
          </a:p>
          <a:p>
            <a:pPr>
              <a:spcBef>
                <a:spcPts val="200"/>
              </a:spcBef>
              <a:defRPr sz="1200">
                <a:solidFill>
                  <a:srgbClr val="2B2B2B"/>
                </a:solidFill>
                <a:latin typeface="Calibri"/>
              </a:defRPr>
            </a:pPr>
            <a:r>
              <a:t>Vision health is fundamental to personal productivity, educational attainment, and overall human welfare. Specialized optical care demands continuous diagnostic tracking of visual acuity, refractive measurements, and structured clinical consultations.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35200"/>
            <a:ext cx="10668000" cy="8636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235200"/>
            <a:ext cx="76200" cy="8636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2311400"/>
            <a:ext cx="10287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3A5F"/>
                </a:solidFill>
                <a:latin typeface="Calibri"/>
              </a:defRPr>
            </a:pPr>
            <a:r>
              <a:t>Global Healthcare Digitization Imperative</a:t>
            </a:r>
          </a:p>
          <a:p>
            <a:pPr>
              <a:spcBef>
                <a:spcPts val="200"/>
              </a:spcBef>
              <a:defRPr sz="1200">
                <a:solidFill>
                  <a:srgbClr val="2B2B2B"/>
                </a:solidFill>
                <a:latin typeface="Calibri"/>
              </a:defRPr>
            </a:pPr>
            <a:r>
              <a:t>Modern healthcare facilities rely heavily on integrated management information systems to eliminate clinical documentation errors, optimize doctor scheduling, and enhance outpatient throughput (Laudon &amp; Laudon, 2022).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00400"/>
            <a:ext cx="10668000" cy="8636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200400"/>
            <a:ext cx="76200" cy="8636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600" y="3276600"/>
            <a:ext cx="10287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3A5F"/>
                </a:solidFill>
                <a:latin typeface="Calibri"/>
              </a:defRPr>
            </a:pPr>
            <a:r>
              <a:t>Operational Deficiencies in Local Eye Clinics</a:t>
            </a:r>
          </a:p>
          <a:p>
            <a:pPr>
              <a:spcBef>
                <a:spcPts val="200"/>
              </a:spcBef>
              <a:defRPr sz="1200">
                <a:solidFill>
                  <a:srgbClr val="2B2B2B"/>
                </a:solidFill>
                <a:latin typeface="Calibri"/>
              </a:defRPr>
            </a:pPr>
            <a:r>
              <a:t>Optical clinics in developing regions such as Garowe still depend on manual paper ledgers, walk-in consultations, and telephone reservations, resulting in lost records, double-bookings, and overcrowded waiting areas.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65600"/>
            <a:ext cx="10668000" cy="8636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165600"/>
            <a:ext cx="76200" cy="8636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600" y="4241800"/>
            <a:ext cx="10287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3A5F"/>
                </a:solidFill>
                <a:latin typeface="Calibri"/>
              </a:defRPr>
            </a:pPr>
            <a:r>
              <a:t>The Web Information Systems Opportunity</a:t>
            </a:r>
          </a:p>
          <a:p>
            <a:pPr>
              <a:spcBef>
                <a:spcPts val="200"/>
              </a:spcBef>
              <a:defRPr sz="1200">
                <a:solidFill>
                  <a:srgbClr val="2B2B2B"/>
                </a:solidFill>
                <a:latin typeface="Calibri"/>
              </a:defRPr>
            </a:pPr>
            <a:r>
              <a:t>Web-based healthcare portals provide 24/7 self-service appointment scheduling, secure centralized electronic medical records, automated doctor calendar management, and transparent eyewear catalog browsing.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30800"/>
            <a:ext cx="10668000" cy="8636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130800"/>
            <a:ext cx="76200" cy="8636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3600" y="5207000"/>
            <a:ext cx="10287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3A5F"/>
                </a:solidFill>
                <a:latin typeface="Calibri"/>
              </a:defRPr>
            </a:pPr>
            <a:r>
              <a:t>Study Focus &amp; Innovation</a:t>
            </a:r>
          </a:p>
          <a:p>
            <a:pPr>
              <a:spcBef>
                <a:spcPts val="200"/>
              </a:spcBef>
              <a:defRPr sz="1200">
                <a:solidFill>
                  <a:srgbClr val="2B2B2B"/>
                </a:solidFill>
                <a:latin typeface="Calibri"/>
              </a:defRPr>
            </a:pPr>
            <a:r>
              <a:t>This thesis designs, develops, and evaluates the Smart Optical Care Management System with Appointment Scheduling—a customized, multi-tier web application built to modernize eye clinic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19"/>
            <a:ext cx="2032000" cy="5461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64135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A5A5A"/>
                </a:solidFill>
                <a:latin typeface="Calibri"/>
              </a:defRPr>
            </a:pPr>
            <a:r>
              <a:t>4</a:t>
            </a:r>
          </a:p>
        </p:txBody>
      </p:sp>
      <p:pic>
        <p:nvPicPr>
          <p:cNvPr id="5" name="Picture 4" descr="slid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6146800"/>
            <a:ext cx="711200" cy="635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270000"/>
            <a:ext cx="10668000" cy="812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63000" y="1447800"/>
            <a:ext cx="2349500" cy="304800"/>
          </a:xfrm>
          <a:prstGeom prst="roundRect">
            <a:avLst/>
          </a:prstGeom>
          <a:solidFill>
            <a:srgbClr val="FEEDED"/>
          </a:solidFill>
          <a:ln>
            <a:solidFill>
              <a:srgbClr val="F5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62828"/>
                </a:solidFill>
                <a:latin typeface="Calibri"/>
              </a:defRPr>
            </a:pPr>
            <a:r>
              <a:t>Data Loss &amp; Misplacement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70000"/>
            <a:ext cx="76200" cy="812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1346200"/>
            <a:ext cx="78105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A5F"/>
                </a:solidFill>
                <a:latin typeface="Calibri"/>
              </a:defRPr>
            </a:pPr>
            <a:r>
              <a:t>1. Vulnerable &amp; Deteriorating Paper Records</a:t>
            </a:r>
          </a:p>
          <a:p>
            <a:pPr>
              <a:spcBef>
                <a:spcPts val="200"/>
              </a:spcBef>
              <a:defRPr sz="1100">
                <a:solidFill>
                  <a:srgbClr val="2B2B2B"/>
                </a:solidFill>
                <a:latin typeface="Calibri"/>
              </a:defRPr>
            </a:pPr>
            <a:r>
              <a:t>Paper examination cards and patient folders are frequently misplaced, damaged, or lost, causing delays in medical consultations and compromising patient continuity of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84400"/>
            <a:ext cx="10668000" cy="812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63000" y="2362200"/>
            <a:ext cx="2349500" cy="304800"/>
          </a:xfrm>
          <a:prstGeom prst="roundRect">
            <a:avLst/>
          </a:prstGeom>
          <a:solidFill>
            <a:srgbClr val="FEEDED"/>
          </a:solidFill>
          <a:ln>
            <a:solidFill>
              <a:srgbClr val="F5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62828"/>
                </a:solidFill>
                <a:latin typeface="Calibri"/>
              </a:defRPr>
            </a:pPr>
            <a:r>
              <a:t>Severe Clinic Congestion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84400"/>
            <a:ext cx="76200" cy="812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600" y="2260600"/>
            <a:ext cx="78105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A5F"/>
                </a:solidFill>
                <a:latin typeface="Calibri"/>
              </a:defRPr>
            </a:pPr>
            <a:r>
              <a:t>2. Chaotic Walk-In Booking &amp; Long Queues</a:t>
            </a:r>
          </a:p>
          <a:p>
            <a:pPr>
              <a:spcBef>
                <a:spcPts val="200"/>
              </a:spcBef>
              <a:defRPr sz="1100">
                <a:solidFill>
                  <a:srgbClr val="2B2B2B"/>
                </a:solidFill>
                <a:latin typeface="Calibri"/>
              </a:defRPr>
            </a:pPr>
            <a:r>
              <a:t>Absence of structured appointment scheduling creates severe waiting room congestion, schedule overlaps, double-bookings, and high patient dissatisfaction.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98800"/>
            <a:ext cx="10668000" cy="812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63000" y="3276600"/>
            <a:ext cx="2349500" cy="304800"/>
          </a:xfrm>
          <a:prstGeom prst="roundRect">
            <a:avLst/>
          </a:prstGeom>
          <a:solidFill>
            <a:srgbClr val="FEEDED"/>
          </a:solidFill>
          <a:ln>
            <a:solidFill>
              <a:srgbClr val="F5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62828"/>
                </a:solidFill>
                <a:latin typeface="Calibri"/>
              </a:defRPr>
            </a:pPr>
            <a:r>
              <a:t>Lost Clinical Readings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098800"/>
            <a:ext cx="76200" cy="812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600" y="3175000"/>
            <a:ext cx="78105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A5F"/>
                </a:solidFill>
                <a:latin typeface="Calibri"/>
              </a:defRPr>
            </a:pPr>
            <a:r>
              <a:t>3. Disconnected Eye Exams &amp; Prescription Tracking</a:t>
            </a:r>
          </a:p>
          <a:p>
            <a:pPr>
              <a:spcBef>
                <a:spcPts val="200"/>
              </a:spcBef>
              <a:defRPr sz="1100">
                <a:solidFill>
                  <a:srgbClr val="2B2B2B"/>
                </a:solidFill>
                <a:latin typeface="Calibri"/>
              </a:defRPr>
            </a:pPr>
            <a:r>
              <a:t>Refractive measurements (OD/OS Sphere, Cylinder, Axis) and corrective lens prescriptions are logged on paper slips that patients easily lose before ordering lenses.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13200"/>
            <a:ext cx="10668000" cy="812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63000" y="4191000"/>
            <a:ext cx="2349500" cy="304800"/>
          </a:xfrm>
          <a:prstGeom prst="roundRect">
            <a:avLst/>
          </a:prstGeom>
          <a:solidFill>
            <a:srgbClr val="FEEDED"/>
          </a:solidFill>
          <a:ln>
            <a:solidFill>
              <a:srgbClr val="F5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62828"/>
                </a:solidFill>
                <a:latin typeface="Calibri"/>
              </a:defRPr>
            </a:pPr>
            <a:r>
              <a:t>No Remote Reservation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013200"/>
            <a:ext cx="76200" cy="812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600" y="4089400"/>
            <a:ext cx="78105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A5F"/>
                </a:solidFill>
                <a:latin typeface="Calibri"/>
              </a:defRPr>
            </a:pPr>
            <a:r>
              <a:t>4. Inefficient Eyewear &amp; Frame Selection</a:t>
            </a:r>
          </a:p>
          <a:p>
            <a:pPr>
              <a:spcBef>
                <a:spcPts val="200"/>
              </a:spcBef>
              <a:defRPr sz="1100">
                <a:solidFill>
                  <a:srgbClr val="2B2B2B"/>
                </a:solidFill>
                <a:latin typeface="Calibri"/>
              </a:defRPr>
            </a:pPr>
            <a:r>
              <a:t>Patients cannot view or reserve spectacle frames in advance; manual frame stock checks lead to inventory mismatches and administrative delays.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27600"/>
            <a:ext cx="10668000" cy="812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63000" y="5105400"/>
            <a:ext cx="2349500" cy="304800"/>
          </a:xfrm>
          <a:prstGeom prst="roundRect">
            <a:avLst/>
          </a:prstGeom>
          <a:solidFill>
            <a:srgbClr val="FEEDED"/>
          </a:solidFill>
          <a:ln>
            <a:solidFill>
              <a:srgbClr val="F5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62828"/>
                </a:solidFill>
                <a:latin typeface="Calibri"/>
              </a:defRPr>
            </a:pPr>
            <a:r>
              <a:t>Administrative Bottlenecks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927600"/>
            <a:ext cx="76200" cy="812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3600" y="5003800"/>
            <a:ext cx="78105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A5F"/>
                </a:solidFill>
                <a:latin typeface="Calibri"/>
              </a:defRPr>
            </a:pPr>
            <a:r>
              <a:t>5. Onerous Administrative Auditing &amp; Reporting</a:t>
            </a:r>
          </a:p>
          <a:p>
            <a:pPr>
              <a:spcBef>
                <a:spcPts val="200"/>
              </a:spcBef>
              <a:defRPr sz="1100">
                <a:solidFill>
                  <a:srgbClr val="2B2B2B"/>
                </a:solidFill>
                <a:latin typeface="Calibri"/>
              </a:defRPr>
            </a:pPr>
            <a:r>
              <a:t>Clinic administrators spend hours manually compiling daily patient tallies, doctor caseloads, and financial revenue summaries, hindering strategic decision-making.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905500"/>
            <a:ext cx="10668000" cy="482600"/>
          </a:xfrm>
          <a:prstGeom prst="roundRect">
            <a:avLst/>
          </a:prstGeom>
          <a:solidFill>
            <a:srgbClr val="FEF9E7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3A5F"/>
                </a:solidFill>
                <a:latin typeface="Calibri"/>
              </a:defRPr>
            </a:pPr>
            <a:r>
              <a:t>➡ Core Problem: Optical clinics urgently require a centralized, automated web management system that integrates online appointment scheduling, digital eye examinations, and eyewear inventory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3. Objectives of the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19"/>
            <a:ext cx="2032000" cy="5461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64135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A5A5A"/>
                </a:solidFill>
                <a:latin typeface="Calibri"/>
              </a:defRPr>
            </a:pPr>
            <a:r>
              <a:t>5</a:t>
            </a:r>
          </a:p>
        </p:txBody>
      </p:sp>
      <p:pic>
        <p:nvPicPr>
          <p:cNvPr id="5" name="Picture 4" descr="slid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6146800"/>
            <a:ext cx="711200" cy="635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206500"/>
            <a:ext cx="10668000" cy="914400"/>
          </a:xfrm>
          <a:prstGeom prst="roundRect">
            <a:avLst/>
          </a:prstGeom>
          <a:solidFill>
            <a:srgbClr val="1F3A5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1600"/>
          <a:lstStyle/>
          <a:p>
            <a:pPr algn="ctr">
              <a:defRPr sz="1300" b="1">
                <a:solidFill>
                  <a:srgbClr val="C9A227"/>
                </a:solidFill>
                <a:latin typeface="Calibri"/>
              </a:defRPr>
            </a:pPr>
            <a:r>
              <a:t>GENERAL OBJECTIVE</a:t>
            </a:r>
          </a:p>
          <a:p>
            <a:pPr>
              <a:spcBef>
                <a:spcPts val="200"/>
              </a:spcBef>
              <a:defRPr sz="1350">
                <a:solidFill>
                  <a:srgbClr val="FFFFFF"/>
                </a:solidFill>
                <a:latin typeface="Calibri"/>
              </a:defRPr>
            </a:pPr>
            <a:r>
              <a:t>To design and implement a Smart Optical Care System with Appointment Scheduling that improves patient record management, automates clinical consultations, and enhances the operational efficiency of optical healthcare service delivery.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09800"/>
            <a:ext cx="5080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3A5F"/>
                </a:solidFill>
                <a:latin typeface="Calibri"/>
              </a:defRPr>
            </a:pPr>
            <a:r>
              <a:t>SPECIFIC RESEARCH 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65400"/>
            <a:ext cx="5270500" cy="1066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7080" y="2692400"/>
            <a:ext cx="279400" cy="2794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F3A5F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2680" y="2641600"/>
            <a:ext cx="469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F3A5F"/>
                </a:solidFill>
                <a:latin typeface="Calibri"/>
              </a:defRPr>
            </a:pPr>
            <a:r>
              <a:t>Objective 1: Clinical Requirements Elicitation</a:t>
            </a:r>
          </a:p>
          <a:p>
            <a:pPr>
              <a:spcBef>
                <a:spcPts val="200"/>
              </a:spcBef>
              <a:defRPr sz="1100">
                <a:solidFill>
                  <a:srgbClr val="2B2B2B"/>
                </a:solidFill>
                <a:latin typeface="Calibri"/>
              </a:defRPr>
            </a:pPr>
            <a:r>
              <a:t>Examine existing manual methods used for managing patient records and scheduling consultations in eye clinics.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33800"/>
            <a:ext cx="5270500" cy="1066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7080" y="3860800"/>
            <a:ext cx="279400" cy="2794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F3A5F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2680" y="3810000"/>
            <a:ext cx="469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F3A5F"/>
                </a:solidFill>
                <a:latin typeface="Calibri"/>
              </a:defRPr>
            </a:pPr>
            <a:r>
              <a:t>Objective 2: Architectural &amp; Database Modeling</a:t>
            </a:r>
          </a:p>
          <a:p>
            <a:pPr>
              <a:spcBef>
                <a:spcPts val="200"/>
              </a:spcBef>
              <a:defRPr sz="1100">
                <a:solidFill>
                  <a:srgbClr val="2B2B2B"/>
                </a:solidFill>
                <a:latin typeface="Calibri"/>
              </a:defRPr>
            </a:pPr>
            <a:r>
              <a:t>Formulate standard structural and behavioral UML models (Use Case, Layered Architecture, ERD, DFDs, Workflows).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02200"/>
            <a:ext cx="5270500" cy="1066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7080" y="5029200"/>
            <a:ext cx="279400" cy="2794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F3A5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2680" y="4978400"/>
            <a:ext cx="469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F3A5F"/>
                </a:solidFill>
                <a:latin typeface="Calibri"/>
              </a:defRPr>
            </a:pPr>
            <a:r>
              <a:t>Objective 3: Full-Stack Web Development</a:t>
            </a:r>
          </a:p>
          <a:p>
            <a:pPr>
              <a:spcBef>
                <a:spcPts val="200"/>
              </a:spcBef>
              <a:defRPr sz="1100">
                <a:solidFill>
                  <a:srgbClr val="2B2B2B"/>
                </a:solidFill>
                <a:latin typeface="Calibri"/>
              </a:defRPr>
            </a:pPr>
            <a:r>
              <a:t>Develop an interactive, multi-tier web application using ASP.NET Core MVC, C#, Entity Framework Core, and Bootstrap.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580" y="2565400"/>
            <a:ext cx="5270500" cy="1066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91580" y="2692400"/>
            <a:ext cx="279400" cy="2794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F3A5F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180" y="2641600"/>
            <a:ext cx="469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F3A5F"/>
                </a:solidFill>
                <a:latin typeface="Calibri"/>
              </a:defRPr>
            </a:pPr>
            <a:r>
              <a:t>Objective 4: Self-Service Appointment Engine</a:t>
            </a:r>
          </a:p>
          <a:p>
            <a:pPr>
              <a:spcBef>
                <a:spcPts val="200"/>
              </a:spcBef>
              <a:defRPr sz="1100">
                <a:solidFill>
                  <a:srgbClr val="2B2B2B"/>
                </a:solidFill>
                <a:latin typeface="Calibri"/>
              </a:defRPr>
            </a:pPr>
            <a:r>
              <a:t>Enable patients to schedule appointments electronically with automated doctor schedule conflict detection.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4580" y="3733800"/>
            <a:ext cx="5270500" cy="1066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91580" y="3860800"/>
            <a:ext cx="279400" cy="2794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F3A5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180" y="3810000"/>
            <a:ext cx="469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F3A5F"/>
                </a:solidFill>
                <a:latin typeface="Calibri"/>
              </a:defRPr>
            </a:pPr>
            <a:r>
              <a:t>Objective 5: Clinical Exams &amp; Prescription Tracking</a:t>
            </a:r>
          </a:p>
          <a:p>
            <a:pPr>
              <a:spcBef>
                <a:spcPts val="200"/>
              </a:spcBef>
              <a:defRPr sz="1100">
                <a:solidFill>
                  <a:srgbClr val="2B2B2B"/>
                </a:solidFill>
                <a:latin typeface="Calibri"/>
              </a:defRPr>
            </a:pPr>
            <a:r>
              <a:t>Provide structured digital recording of visual acuity, refractive findings, and eyewear frame reservations.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4580" y="4902200"/>
            <a:ext cx="5270500" cy="1066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91580" y="5029200"/>
            <a:ext cx="279400" cy="2794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F3A5F"/>
                </a:solidFill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180" y="4978400"/>
            <a:ext cx="469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F3A5F"/>
                </a:solidFill>
                <a:latin typeface="Calibri"/>
              </a:defRPr>
            </a:pPr>
            <a:r>
              <a:t>Objective 6: System Verification &amp; UAT</a:t>
            </a:r>
          </a:p>
          <a:p>
            <a:pPr>
              <a:spcBef>
                <a:spcPts val="200"/>
              </a:spcBef>
              <a:defRPr sz="1100">
                <a:solidFill>
                  <a:srgbClr val="2B2B2B"/>
                </a:solidFill>
                <a:latin typeface="Calibri"/>
              </a:defRPr>
            </a:pPr>
            <a:r>
              <a:t>Empirically evaluate the usability, operational security, data isolation, and performance of the developed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4. Literature Review &amp; Research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19"/>
            <a:ext cx="2032000" cy="5461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64135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A5A5A"/>
                </a:solidFill>
                <a:latin typeface="Calibri"/>
              </a:defRPr>
            </a:pPr>
            <a:r>
              <a:t>6</a:t>
            </a:r>
          </a:p>
        </p:txBody>
      </p:sp>
      <p:pic>
        <p:nvPicPr>
          <p:cNvPr id="5" name="Picture 4" descr="slid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6146800"/>
            <a:ext cx="711200" cy="63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168400"/>
            <a:ext cx="5207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3A5F"/>
                </a:solidFill>
                <a:latin typeface="Calibri"/>
              </a:defRPr>
            </a:pPr>
            <a:r>
              <a:t>EVALUATION OF EXISTING HEALTHCARE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4000"/>
            <a:ext cx="5270500" cy="13716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600" y="1600200"/>
            <a:ext cx="508000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3A5F"/>
                </a:solidFill>
                <a:latin typeface="Calibri"/>
              </a:defRPr>
            </a:pPr>
            <a:r>
              <a:t>Manual &amp; Paper-Based Clinic Systems</a:t>
            </a:r>
          </a:p>
          <a:p>
            <a:pPr>
              <a:spcBef>
                <a:spcPts val="300"/>
              </a:spcBef>
              <a:defRPr sz="1050">
                <a:solidFill>
                  <a:srgbClr val="2B2B2B"/>
                </a:solidFill>
                <a:latin typeface="Calibri"/>
              </a:defRPr>
            </a:pPr>
            <a:r>
              <a:t>• Strengths: Low initial capital investment; familiar to traditional staff.</a:t>
            </a:r>
            <a:br/>
            <a:r>
              <a:t>• Critical Limitations: High vulnerability to document misplacement and physical deterioration; no remote access; causes severe waiting room congestion (Cayirli &amp; Veral, 2006).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97200"/>
            <a:ext cx="5270500" cy="13716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600" y="3073400"/>
            <a:ext cx="508000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3A5F"/>
                </a:solidFill>
                <a:latin typeface="Calibri"/>
              </a:defRPr>
            </a:pPr>
            <a:r>
              <a:t>Generic Hospital Information Systems (HIS)</a:t>
            </a:r>
          </a:p>
          <a:p>
            <a:pPr>
              <a:spcBef>
                <a:spcPts val="300"/>
              </a:spcBef>
              <a:defRPr sz="1050">
                <a:solidFill>
                  <a:srgbClr val="2B2B2B"/>
                </a:solidFill>
                <a:latin typeface="Calibri"/>
              </a:defRPr>
            </a:pPr>
            <a:r>
              <a:t>• Strengths: Enterprise-wide patient billing, general hospital ward admissions.</a:t>
            </a:r>
            <a:br/>
            <a:r>
              <a:t>• Critical Limitations: Lacks specialized optometric clinical fields (e.g. OD/OS sphere, cylinder, axis, visual acuity, intraocular pressure, and eyewear frame catalogs).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70400"/>
            <a:ext cx="5270500" cy="13716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4546600"/>
            <a:ext cx="508000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3A5F"/>
                </a:solidFill>
                <a:latin typeface="Calibri"/>
              </a:defRPr>
            </a:pPr>
            <a:r>
              <a:t>Commercial International Optical Software</a:t>
            </a:r>
          </a:p>
          <a:p>
            <a:pPr>
              <a:spcBef>
                <a:spcPts val="300"/>
              </a:spcBef>
              <a:defRPr sz="1050">
                <a:solidFill>
                  <a:srgbClr val="2B2B2B"/>
                </a:solidFill>
                <a:latin typeface="Calibri"/>
              </a:defRPr>
            </a:pPr>
            <a:r>
              <a:t>• Strengths: Comprehensive features for large commercial optical chains.</a:t>
            </a:r>
            <a:br/>
            <a:r>
              <a:t>• Critical Limitations: Steep recurring licensing fees; foreign cloud hosting dependencies; lacks localization for Somali healthcare environments and local clinic workflows.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1168400"/>
            <a:ext cx="5207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3A5F"/>
                </a:solidFill>
                <a:latin typeface="Calibri"/>
              </a:defRPr>
            </a:pPr>
            <a:r>
              <a:t>RESEARCH GAP &amp; SYSTEM CONTRIBUTION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0" y="1524000"/>
            <a:ext cx="5270500" cy="2095500"/>
          </a:xfrm>
          <a:prstGeom prst="roundRect">
            <a:avLst/>
          </a:prstGeom>
          <a:solidFill>
            <a:srgbClr val="FEF5F5"/>
          </a:solidFill>
          <a:ln w="12700">
            <a:solidFill>
              <a:srgbClr val="F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1625600"/>
            <a:ext cx="49530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2828"/>
                </a:solidFill>
                <a:latin typeface="Calibri"/>
              </a:defRPr>
            </a:pPr>
            <a:r>
              <a:t>The Identified Research Gap in Garowe:</a:t>
            </a:r>
          </a:p>
          <a:p>
            <a:pPr>
              <a:spcBef>
                <a:spcPts val="400"/>
              </a:spcBef>
              <a:defRPr sz="1100">
                <a:solidFill>
                  <a:srgbClr val="2B2B2B"/>
                </a:solidFill>
                <a:latin typeface="Calibri"/>
              </a:defRPr>
            </a:pPr>
            <a:r>
              <a:t>Most optical clinics in Garowe operate in a digital divide: generic clinic software ignores optometry requirements, while commercial proprietary systems are economically out of reach.</a:t>
            </a:r>
            <a:br/>
            <a:br/>
            <a:r>
              <a:t>There is an acute necessity for an affordable, localized, web-based system that integrates appointment booking, specialized ophthalmic examination charting, and eyewear frame reservations.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0" y="3746500"/>
            <a:ext cx="5270500" cy="222250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8400" y="3848100"/>
            <a:ext cx="49530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A5F"/>
                </a:solidFill>
                <a:latin typeface="Calibri"/>
              </a:defRPr>
            </a:pPr>
            <a:r>
              <a:t>How the Proposed System Bridges the Gap:</a:t>
            </a:r>
          </a:p>
          <a:p>
            <a:pPr>
              <a:spcBef>
                <a:spcPts val="400"/>
              </a:spcBef>
              <a:defRPr sz="1050">
                <a:solidFill>
                  <a:srgbClr val="2B2B2B"/>
                </a:solidFill>
                <a:latin typeface="Calibri"/>
              </a:defRPr>
            </a:pPr>
            <a:r>
              <a:t>✓ Specialized Ophthalmic Records: Dedicated fields for OD/OS refraction &amp; visual acuity.</a:t>
            </a:r>
            <a:br/>
            <a:r>
              <a:t>✓ Real-Time Appointment Conflict Prevention: Eliminates double-booking.</a:t>
            </a:r>
            <a:br/>
            <a:r>
              <a:t>✓ Eyewear Catalog &amp; Frame Reservation: Online frame selection and booking tracking.</a:t>
            </a:r>
            <a:br/>
            <a:r>
              <a:t>✓ Multi-Role Security: Dedicated portals for Patients, Optometrists, and Admins.</a:t>
            </a:r>
            <a:br/>
            <a:r>
              <a:t>✓ Zero Software Licensing Cost: Built on open, enterprise-grade ASP.NET 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5. Methodology &amp;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19"/>
            <a:ext cx="2032000" cy="5461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64135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A5A5A"/>
                </a:solidFill>
                <a:latin typeface="Calibri"/>
              </a:defRPr>
            </a:pPr>
            <a:r>
              <a:t>7</a:t>
            </a:r>
          </a:p>
        </p:txBody>
      </p:sp>
      <p:pic>
        <p:nvPicPr>
          <p:cNvPr id="5" name="Picture 4" descr="slid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6146800"/>
            <a:ext cx="711200" cy="63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117600"/>
            <a:ext cx="5588000" cy="33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3A5F"/>
                </a:solidFill>
                <a:latin typeface="Calibri"/>
              </a:defRPr>
            </a:pPr>
            <a:r>
              <a:t>METHODOLOGY &amp; LAYERED 3-TIER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73200"/>
            <a:ext cx="5588000" cy="685800"/>
          </a:xfrm>
          <a:prstGeom prst="roundRect">
            <a:avLst/>
          </a:prstGeom>
          <a:solidFill>
            <a:srgbClr val="F6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73200"/>
            <a:ext cx="63500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7400" y="1524000"/>
            <a:ext cx="53594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F3A5F"/>
                </a:solidFill>
                <a:latin typeface="Calibri"/>
              </a:defRPr>
            </a:pPr>
            <a:r>
              <a:t>Design Science Research (DSR) &amp; Agile</a:t>
            </a:r>
          </a:p>
          <a:p>
            <a:pPr>
              <a:spcBef>
                <a:spcPts val="200"/>
              </a:spcBef>
              <a:defRPr sz="1000">
                <a:solidFill>
                  <a:srgbClr val="2B2B2B"/>
                </a:solidFill>
                <a:latin typeface="Calibri"/>
              </a:defRPr>
            </a:pPr>
            <a:r>
              <a:t>Iterative development lifecycle structured into 4 sprints: Inception, Role Security, Clinical Workflows (Booking, Exams, Prescriptions), and Admin Testing.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09800"/>
            <a:ext cx="5588000" cy="685800"/>
          </a:xfrm>
          <a:prstGeom prst="roundRect">
            <a:avLst/>
          </a:prstGeom>
          <a:solidFill>
            <a:srgbClr val="F6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09800"/>
            <a:ext cx="63500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400" y="2260600"/>
            <a:ext cx="53594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F3A5F"/>
                </a:solidFill>
                <a:latin typeface="Calibri"/>
              </a:defRPr>
            </a:pPr>
            <a:r>
              <a:t>Presentation Layer (Client Interfaces)</a:t>
            </a:r>
          </a:p>
          <a:p>
            <a:pPr>
              <a:spcBef>
                <a:spcPts val="200"/>
              </a:spcBef>
              <a:defRPr sz="1000">
                <a:solidFill>
                  <a:srgbClr val="2B2B2B"/>
                </a:solidFill>
                <a:latin typeface="Calibri"/>
              </a:defRPr>
            </a:pPr>
            <a:r>
              <a:t>Responsive Bootstrap 5.3 layouts, Razor Views, jQuery validations, providing tailored portals for Patients, Doctors, and Clinic Administrators.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46400"/>
            <a:ext cx="5588000" cy="685800"/>
          </a:xfrm>
          <a:prstGeom prst="roundRect">
            <a:avLst/>
          </a:prstGeom>
          <a:solidFill>
            <a:srgbClr val="F6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946400"/>
            <a:ext cx="63500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400" y="2997200"/>
            <a:ext cx="53594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F3A5F"/>
                </a:solidFill>
                <a:latin typeface="Calibri"/>
              </a:defRPr>
            </a:pPr>
            <a:r>
              <a:t>Business Logic Layer (Application Core)</a:t>
            </a:r>
          </a:p>
          <a:p>
            <a:pPr>
              <a:spcBef>
                <a:spcPts val="200"/>
              </a:spcBef>
              <a:defRPr sz="1000">
                <a:solidFill>
                  <a:srgbClr val="2B2B2B"/>
                </a:solidFill>
                <a:latin typeface="Calibri"/>
              </a:defRPr>
            </a:pPr>
            <a:r>
              <a:t>ASP.NET Core MVC Controllers, appointment scheduling services, slot validation algorithms, and Identity authentication handlers.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83000"/>
            <a:ext cx="5588000" cy="685800"/>
          </a:xfrm>
          <a:prstGeom prst="roundRect">
            <a:avLst/>
          </a:prstGeom>
          <a:solidFill>
            <a:srgbClr val="F6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683000"/>
            <a:ext cx="63500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400" y="3733800"/>
            <a:ext cx="53594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F3A5F"/>
                </a:solidFill>
                <a:latin typeface="Calibri"/>
              </a:defRPr>
            </a:pPr>
            <a:r>
              <a:t>Data Access &amp; Database Layer</a:t>
            </a:r>
          </a:p>
          <a:p>
            <a:pPr>
              <a:spcBef>
                <a:spcPts val="200"/>
              </a:spcBef>
              <a:defRPr sz="1000">
                <a:solidFill>
                  <a:srgbClr val="2B2B2B"/>
                </a:solidFill>
                <a:latin typeface="Calibri"/>
              </a:defRPr>
            </a:pPr>
            <a:r>
              <a:t>Entity Framework Core 9 ORM, repository abstraction, Microsoft SQL Server / SQLite database enforcing ACID transactions and foreign key rules.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08500"/>
            <a:ext cx="5588000" cy="165100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400" y="4572000"/>
            <a:ext cx="5334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3A5F"/>
                </a:solidFill>
                <a:latin typeface="Calibri"/>
              </a:defRPr>
            </a:pPr>
            <a:r>
              <a:t>Relational Database Design (9 Core Tables):</a:t>
            </a:r>
          </a:p>
          <a:p>
            <a:pPr>
              <a:spcBef>
                <a:spcPts val="300"/>
              </a:spcBef>
              <a:defRPr sz="1000">
                <a:solidFill>
                  <a:srgbClr val="2B2B2B"/>
                </a:solidFill>
                <a:latin typeface="Calibri"/>
              </a:defRPr>
            </a:pPr>
            <a:r>
              <a:t>• UserAccounts: System login credentials and role assignment (Admin, Doctor, Patient).</a:t>
            </a:r>
            <a:br/>
            <a:r>
              <a:t>• Patients &amp; Doctors: Demographic profiles, clinical specialties, and licensing.</a:t>
            </a:r>
            <a:br/>
            <a:r>
              <a:t>• Appointments: Scheduled consultations with status (Pending, Confirmed, Completed).</a:t>
            </a:r>
            <a:br/>
            <a:r>
              <a:t>• ExaminationRecords &amp; Prescriptions: Visual acuity, sphere, cylinder, and lens advice.</a:t>
            </a:r>
            <a:br/>
            <a:r>
              <a:t>• Frames, FrameBookings &amp; InventoryItems: Eyewear catalog, reservations, and stock.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7000" y="1270000"/>
            <a:ext cx="4826000" cy="482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2 - System Architecture 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600" y="1371600"/>
            <a:ext cx="4622800" cy="4343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77000" y="5715000"/>
            <a:ext cx="4826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F3A5F"/>
                </a:solidFill>
                <a:latin typeface="Calibri"/>
              </a:defRPr>
            </a:pPr>
            <a:r>
              <a:t>Figure 4.2: Layered System Architecture Diagram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6. Implementation &amp; Core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19"/>
            <a:ext cx="2032000" cy="5461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64135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A5A5A"/>
                </a:solidFill>
                <a:latin typeface="Calibri"/>
              </a:defRPr>
            </a:pPr>
            <a:r>
              <a:t>8</a:t>
            </a:r>
          </a:p>
        </p:txBody>
      </p:sp>
      <p:pic>
        <p:nvPicPr>
          <p:cNvPr id="5" name="Picture 4" descr="slid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6146800"/>
            <a:ext cx="711200" cy="635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206500"/>
            <a:ext cx="5270500" cy="4635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80" y="1308100"/>
            <a:ext cx="5067300" cy="3111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1680" y="4508500"/>
            <a:ext cx="5067300" cy="120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A5F"/>
                </a:solidFill>
                <a:latin typeface="Calibri"/>
              </a:defRPr>
            </a:pPr>
            <a:r>
              <a:t>Clinic Administrator Governance Dashboard</a:t>
            </a:r>
          </a:p>
          <a:p>
            <a:pPr>
              <a:spcBef>
                <a:spcPts val="200"/>
              </a:spcBef>
              <a:defRPr sz="1050">
                <a:solidFill>
                  <a:srgbClr val="2B2B2B"/>
                </a:solidFill>
                <a:latin typeface="Calibri"/>
              </a:defRPr>
            </a:pPr>
            <a:r>
              <a:t>• Real-Time Clinic KPIs: Total Patients, Active Doctors, Today's Bookings, Frame Stock.</a:t>
            </a:r>
            <a:br/>
            <a:r>
              <a:t>• Medical Staff Management: Manage optometrist schedules and clinical assignments.</a:t>
            </a:r>
            <a:br/>
            <a:r>
              <a:t>• Consolidated Clinic Reporting: Operational logs, consultation throughput, and audit trails.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9500" y="1206500"/>
            <a:ext cx="5270500" cy="4635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100" y="1308100"/>
            <a:ext cx="5067300" cy="3111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1100" y="4508500"/>
            <a:ext cx="5067300" cy="120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A5F"/>
                </a:solidFill>
                <a:latin typeface="Calibri"/>
              </a:defRPr>
            </a:pPr>
            <a:r>
              <a:t>Appointment Scheduling &amp; Eyewear Catalog</a:t>
            </a:r>
          </a:p>
          <a:p>
            <a:pPr>
              <a:spcBef>
                <a:spcPts val="200"/>
              </a:spcBef>
              <a:defRPr sz="1050">
                <a:solidFill>
                  <a:srgbClr val="2B2B2B"/>
                </a:solidFill>
                <a:latin typeface="Calibri"/>
              </a:defRPr>
            </a:pPr>
            <a:r>
              <a:t>• Automated Conflict Detection: Real-time validation prevents double-booking of doctors.</a:t>
            </a:r>
            <a:br/>
            <a:r>
              <a:t>• Digital Ophthalmic Records: OD/OS Refractive exam results &amp; corrective lens prescriptions.</a:t>
            </a:r>
            <a:br/>
            <a:r>
              <a:t>• Frames Catalog &amp; Booking: Patients browse eyewear styles and reserve frames online.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7. Testing, Results &amp;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19"/>
            <a:ext cx="2032000" cy="5461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64135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A5A5A"/>
                </a:solidFill>
                <a:latin typeface="Calibri"/>
              </a:defRPr>
            </a:pPr>
            <a:r>
              <a:t>9</a:t>
            </a:r>
          </a:p>
        </p:txBody>
      </p:sp>
      <p:pic>
        <p:nvPicPr>
          <p:cNvPr id="5" name="Picture 4" descr="slid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6146800"/>
            <a:ext cx="711200" cy="635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168400"/>
            <a:ext cx="2603500" cy="787400"/>
          </a:xfrm>
          <a:prstGeom prst="roundRect">
            <a:avLst/>
          </a:prstGeom>
          <a:solidFill>
            <a:srgbClr val="F6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19200"/>
            <a:ext cx="26035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8B22"/>
                </a:solidFill>
                <a:latin typeface="Calibri"/>
              </a:defRPr>
            </a:pPr>
            <a:r>
              <a:t>100% Pass Rate</a:t>
            </a:r>
          </a:p>
          <a:p>
            <a:pPr algn="ctr">
              <a:spcBef>
                <a:spcPts val="200"/>
              </a:spcBef>
              <a:defRPr sz="950">
                <a:solidFill>
                  <a:srgbClr val="2B2B2B"/>
                </a:solidFill>
                <a:latin typeface="Calibri"/>
              </a:defRPr>
            </a:pPr>
            <a:r>
              <a:t>All Functional Test Suites Verified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0579" y="1168400"/>
            <a:ext cx="2603500" cy="787400"/>
          </a:xfrm>
          <a:prstGeom prst="roundRect">
            <a:avLst/>
          </a:prstGeom>
          <a:solidFill>
            <a:srgbClr val="F6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0579" y="1219200"/>
            <a:ext cx="26035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3A5F"/>
                </a:solidFill>
                <a:latin typeface="Calibri"/>
              </a:defRPr>
            </a:pPr>
            <a:r>
              <a:t>&lt; 380 ms</a:t>
            </a:r>
          </a:p>
          <a:p>
            <a:pPr algn="ctr">
              <a:spcBef>
                <a:spcPts val="200"/>
              </a:spcBef>
              <a:defRPr sz="950">
                <a:solidFill>
                  <a:srgbClr val="2B2B2B"/>
                </a:solidFill>
                <a:latin typeface="Calibri"/>
              </a:defRPr>
            </a:pPr>
            <a:r>
              <a:t>Average Page Response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1080" y="1168400"/>
            <a:ext cx="2603500" cy="787400"/>
          </a:xfrm>
          <a:prstGeom prst="roundRect">
            <a:avLst/>
          </a:prstGeom>
          <a:solidFill>
            <a:srgbClr val="F6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1080" y="1219200"/>
            <a:ext cx="26035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A227"/>
                </a:solidFill>
                <a:latin typeface="Calibri"/>
              </a:defRPr>
            </a:pPr>
            <a:r>
              <a:t>94% Satisfaction</a:t>
            </a:r>
          </a:p>
          <a:p>
            <a:pPr algn="ctr">
              <a:spcBef>
                <a:spcPts val="200"/>
              </a:spcBef>
              <a:defRPr sz="950">
                <a:solidFill>
                  <a:srgbClr val="2B2B2B"/>
                </a:solidFill>
                <a:latin typeface="Calibri"/>
              </a:defRPr>
            </a:pPr>
            <a:r>
              <a:t>User Acceptance Testing (UAT)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1580" y="1168400"/>
            <a:ext cx="2603500" cy="787400"/>
          </a:xfrm>
          <a:prstGeom prst="roundRect">
            <a:avLst/>
          </a:prstGeom>
          <a:solidFill>
            <a:srgbClr val="F6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1580" y="1219200"/>
            <a:ext cx="26035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3A5F"/>
                </a:solidFill>
                <a:latin typeface="Calibri"/>
              </a:defRPr>
            </a:pPr>
            <a:r>
              <a:t>Zero Conflicts</a:t>
            </a:r>
          </a:p>
          <a:p>
            <a:pPr algn="ctr">
              <a:spcBef>
                <a:spcPts val="200"/>
              </a:spcBef>
              <a:defRPr sz="950">
                <a:solidFill>
                  <a:srgbClr val="2B2B2B"/>
                </a:solidFill>
                <a:latin typeface="Calibri"/>
              </a:defRPr>
            </a:pPr>
            <a:r>
              <a:t>100% Doctor Schedule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057400"/>
            <a:ext cx="6350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3A5F"/>
                </a:solidFill>
                <a:latin typeface="Calibri"/>
              </a:defRPr>
            </a:pPr>
            <a:r>
              <a:t>FUNCTIONAL TEST CASES &amp; EMPIRICAL VERIFICATION RESULTS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2349500"/>
          <a:ext cx="10668000" cy="374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00"/>
                <a:gridCol w="1778000"/>
                <a:gridCol w="3365500"/>
                <a:gridCol w="3619500"/>
                <a:gridCol w="1079500"/>
              </a:tblGrid>
              <a:tr h="46831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Clinical Module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Scenario &amp; Input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&amp; Observed System Behavior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683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User 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Submit valid email &amp; password on Login form.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User authenticated; role-based cookie issued; routed to portal.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PASSED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3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Appointment Booking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Patient selects doctor, available date &amp; time slot.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Booking persisted; status set to Pending; added to doctor schedule.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PASSED ✓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4683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Conflict Prevention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Attempt to book already occupied doctor time slot.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System blocks booking with warning; double-booking prevented.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PASSED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3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Eye Exam Charting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Doctor records visual acuity, OD/OS sphere &amp; cylinder.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Clinical exam data persisted; linked to patient medical record.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PASSED ✓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4683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TC-05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Prescription Issuing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Doctor issues corrective prescription based on exam.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Prescription recorded with lens advice; viewable in patient portal.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PASSED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3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TC-06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Frame Reservation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Patient selects eyewear frame and submits reservation.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Frame booking persisted in Pending state; inventory updated.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PASSED ✓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46831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TC-07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RBAC Security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Patient attempts direct URL access to /Admin.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System returns HTTP 403 / Access Denied; unauthorized access blocked.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PASSED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8. Conclusion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19"/>
            <a:ext cx="2032000" cy="5461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64135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A5A5A"/>
                </a:solidFill>
                <a:latin typeface="Calibri"/>
              </a:defRPr>
            </a:pPr>
            <a:r>
              <a:t>10</a:t>
            </a:r>
          </a:p>
        </p:txBody>
      </p:sp>
      <p:pic>
        <p:nvPicPr>
          <p:cNvPr id="5" name="Picture 4" descr="slid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6146800"/>
            <a:ext cx="711200" cy="635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168400"/>
            <a:ext cx="10668000" cy="158750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68400"/>
            <a:ext cx="76200" cy="15875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1244600"/>
            <a:ext cx="10287000" cy="14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F3A5F"/>
                </a:solidFill>
                <a:latin typeface="Calibri"/>
              </a:defRPr>
            </a:pPr>
            <a:r>
              <a:t>RESEARCH CONCLUSION</a:t>
            </a:r>
          </a:p>
          <a:p>
            <a:pPr>
              <a:spcBef>
                <a:spcPts val="400"/>
              </a:spcBef>
              <a:defRPr sz="1100">
                <a:solidFill>
                  <a:srgbClr val="2B2B2B"/>
                </a:solidFill>
                <a:latin typeface="Calibri"/>
              </a:defRPr>
            </a:pPr>
            <a:r>
              <a:t>• The Optical Care Management System with Appointment Scheduling was successfully designed, developed, and empirically validated using ASP.NET Core MVC, Entity Framework Core, and Bootstrap.</a:t>
            </a:r>
            <a:br/>
            <a:r>
              <a:t>• All general and specific research objectives were fully achieved, providing an automated and reliable digital solution that eliminates appointment overlap, secures clinical examination records, and streamlines patient flow.</a:t>
            </a:r>
            <a:br/>
            <a:r>
              <a:t>• Quantitative evaluation confirmed a patient booking time reduction from ~20 minutes to under 2 minutes with a 94% patient satisfaction rating.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95600"/>
            <a:ext cx="5207000" cy="3238500"/>
          </a:xfrm>
          <a:prstGeom prst="roundRect">
            <a:avLst/>
          </a:prstGeom>
          <a:solidFill>
            <a:srgbClr val="F6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400" y="2971800"/>
            <a:ext cx="4902200" cy="307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A5F"/>
                </a:solidFill>
                <a:latin typeface="Calibri"/>
              </a:defRPr>
            </a:pPr>
            <a:r>
              <a:t>RECOMMENDATIONS FOR ADOPTION</a:t>
            </a:r>
          </a:p>
          <a:p>
            <a:pPr>
              <a:spcBef>
                <a:spcPts val="600"/>
              </a:spcBef>
              <a:defRPr sz="1100" b="1">
                <a:solidFill>
                  <a:srgbClr val="1F3A5F"/>
                </a:solidFill>
                <a:latin typeface="Calibri"/>
              </a:defRPr>
            </a:pPr>
            <a:r>
              <a:t>• Clinical Adoption in Garowe:</a:t>
            </a:r>
          </a:p>
          <a:p>
            <a:pPr>
              <a:defRPr sz="1000">
                <a:solidFill>
                  <a:srgbClr val="2B2B2B"/>
                </a:solidFill>
                <a:latin typeface="Calibri"/>
              </a:defRPr>
            </a:pPr>
            <a:r>
              <a:t>Deploy the web system across primary eye care centers in Garowe to improve consultation efficiency and eliminate waiting room crowding.</a:t>
            </a:r>
          </a:p>
          <a:p>
            <a:pPr>
              <a:spcBef>
                <a:spcPts val="600"/>
              </a:spcBef>
              <a:defRPr sz="1100" b="1">
                <a:solidFill>
                  <a:srgbClr val="1F3A5F"/>
                </a:solidFill>
                <a:latin typeface="Calibri"/>
              </a:defRPr>
            </a:pPr>
            <a:r>
              <a:t>• Routine Database Backups &amp; TLS:</a:t>
            </a:r>
          </a:p>
          <a:p>
            <a:pPr>
              <a:defRPr sz="1000">
                <a:solidFill>
                  <a:srgbClr val="2B2B2B"/>
                </a:solidFill>
                <a:latin typeface="Calibri"/>
              </a:defRPr>
            </a:pPr>
            <a:r>
              <a:t>Implement scheduled automated database backups and enforce HTTPS encryption to protect sensitive ophthalmic health records.</a:t>
            </a:r>
          </a:p>
          <a:p>
            <a:pPr>
              <a:spcBef>
                <a:spcPts val="600"/>
              </a:spcBef>
              <a:defRPr sz="1100" b="1">
                <a:solidFill>
                  <a:srgbClr val="1F3A5F"/>
                </a:solidFill>
                <a:latin typeface="Calibri"/>
              </a:defRPr>
            </a:pPr>
            <a:r>
              <a:t>• Staff Training &amp; Onboarding:</a:t>
            </a:r>
          </a:p>
          <a:p>
            <a:pPr>
              <a:defRPr sz="1000">
                <a:solidFill>
                  <a:srgbClr val="2B2B2B"/>
                </a:solidFill>
                <a:latin typeface="Calibri"/>
              </a:defRPr>
            </a:pPr>
            <a:r>
              <a:t>Conduct comprehensive orientation for optometrists, clinic assistants, and reception staff to maximize system usability and data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0" y="2895600"/>
            <a:ext cx="5207000" cy="323850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8400" y="2971800"/>
            <a:ext cx="4902200" cy="307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A5F"/>
                </a:solidFill>
                <a:latin typeface="Calibri"/>
              </a:defRPr>
            </a:pPr>
            <a:r>
              <a:t>RECOMMENDATIONS FOR FUTURE WORK</a:t>
            </a:r>
          </a:p>
          <a:p>
            <a:pPr>
              <a:spcBef>
                <a:spcPts val="400"/>
              </a:spcBef>
              <a:defRPr sz="1050" b="1">
                <a:solidFill>
                  <a:srgbClr val="1F3A5F"/>
                </a:solidFill>
                <a:latin typeface="Calibri"/>
              </a:defRPr>
            </a:pPr>
            <a:r>
              <a:t>1. AI Diagnostic Assistance:</a:t>
            </a:r>
          </a:p>
          <a:p>
            <a:pPr>
              <a:defRPr sz="950">
                <a:solidFill>
                  <a:srgbClr val="2B2B2B"/>
                </a:solidFill>
                <a:latin typeface="Calibri"/>
              </a:defRPr>
            </a:pPr>
            <a:r>
              <a:t>Integrate machine learning models to assist optometrists in analyzing refractive patterns and suggesting optimal corrective lenses.</a:t>
            </a:r>
          </a:p>
          <a:p>
            <a:pPr>
              <a:spcBef>
                <a:spcPts val="400"/>
              </a:spcBef>
              <a:defRPr sz="1050" b="1">
                <a:solidFill>
                  <a:srgbClr val="1F3A5F"/>
                </a:solidFill>
                <a:latin typeface="Calibri"/>
              </a:defRPr>
            </a:pPr>
            <a:r>
              <a:t>2. Mobile Money Payment API:</a:t>
            </a:r>
          </a:p>
          <a:p>
            <a:pPr>
              <a:defRPr sz="950">
                <a:solidFill>
                  <a:srgbClr val="2B2B2B"/>
                </a:solidFill>
                <a:latin typeface="Calibri"/>
              </a:defRPr>
            </a:pPr>
            <a:r>
              <a:t>Connect local Somali mobile payment gateways (Hormuud EVC Plus, Telesom ZAAD) for online eyewear frame deposits and consultation fee pre-payments.</a:t>
            </a:r>
          </a:p>
          <a:p>
            <a:pPr>
              <a:spcBef>
                <a:spcPts val="400"/>
              </a:spcBef>
              <a:defRPr sz="1050" b="1">
                <a:solidFill>
                  <a:srgbClr val="1F3A5F"/>
                </a:solidFill>
                <a:latin typeface="Calibri"/>
              </a:defRPr>
            </a:pPr>
            <a:r>
              <a:t>3. Automated SMS &amp; WhatsApp Alerts:</a:t>
            </a:r>
          </a:p>
          <a:p>
            <a:pPr>
              <a:defRPr sz="950">
                <a:solidFill>
                  <a:srgbClr val="2B2B2B"/>
                </a:solidFill>
                <a:latin typeface="Calibri"/>
              </a:defRPr>
            </a:pPr>
            <a:r>
              <a:t>Incorporate telecom SMS gateways to dispatch instant appointment confirmations and reminders to reduce patient no-shows.</a:t>
            </a:r>
          </a:p>
          <a:p>
            <a:pPr>
              <a:spcBef>
                <a:spcPts val="400"/>
              </a:spcBef>
              <a:defRPr sz="1050" b="1">
                <a:solidFill>
                  <a:srgbClr val="1F3A5F"/>
                </a:solidFill>
                <a:latin typeface="Calibri"/>
              </a:defRPr>
            </a:pPr>
            <a:r>
              <a:t>4. Progressive Web App (PWA):</a:t>
            </a:r>
          </a:p>
          <a:p>
            <a:pPr>
              <a:defRPr sz="950">
                <a:solidFill>
                  <a:srgbClr val="2B2B2B"/>
                </a:solidFill>
                <a:latin typeface="Calibri"/>
              </a:defRPr>
            </a:pPr>
            <a:r>
              <a:t>Package the portal with service workers and offline caching for an app-like experience on mobile devices.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49900" y="482600"/>
            <a:ext cx="1219200" cy="121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0" y="647700"/>
            <a:ext cx="965200" cy="88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032000"/>
            <a:ext cx="10668000" cy="88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C9A227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048000"/>
            <a:ext cx="10668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810000"/>
            <a:ext cx="3048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064000"/>
            <a:ext cx="10668000" cy="19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SAFIO ABDIKADIR HASAN</a:t>
            </a:r>
          </a:p>
          <a:p>
            <a:pPr algn="ctr">
              <a:spcBef>
                <a:spcPts val="500"/>
              </a:spcBef>
              <a:defRPr sz="1400">
                <a:solidFill>
                  <a:srgbClr val="C9A227"/>
                </a:solidFill>
                <a:latin typeface="Calibri"/>
              </a:defRPr>
            </a:pPr>
            <a:r>
              <a:t>Registration Number: EAUGRW003290 / 003290  •  Bachelor of Science in Computer Science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Department of Computer Science  |  Faculty of Technology and Engineering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East Africa University – Garowe Campus  •  Supervisor: Engr. Abdirizak Jirde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